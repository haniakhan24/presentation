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Sans Bold"/>
      <p:regular r:id="rId201314"/>
    </p:embeddedFont>
    <p:embeddedFont>
      <p:font typeface="Funnel Sans ExtraBold"/>
      <p:regular r:id="rId201315"/>
    </p:embeddedFont>
    <p:embeddedFont>
      <p:font typeface="Funnel Sans Light"/>
      <p:regular r:id="rId201316"/>
    </p:embeddedFont>
    <p:embeddedFont>
      <p:font typeface="Funnel Sans"/>
      <p:regular r:id="rId201317"/>
    </p:embeddedFont>
    <p:embeddedFont>
      <p:font typeface="Funnel Sans Medium"/>
      <p:regular r:id="rId201318"/>
    </p:embeddedFont>
    <p:embeddedFont>
      <p:font typeface="Funnel Sans SemiBold"/>
      <p:regular r:id="rId201319"/>
    </p:embeddedFont>
    <p:embeddedFont>
      <p:font typeface="Mona Sans Bold"/>
      <p:regular r:id="rId201320"/>
    </p:embeddedFont>
    <p:embeddedFont>
      <p:font typeface="Mona Sans ExtraBold"/>
      <p:regular r:id="rId201321"/>
    </p:embeddedFont>
    <p:embeddedFont>
      <p:font typeface="Mona Sans Black"/>
      <p:regular r:id="rId201322"/>
    </p:embeddedFont>
    <p:embeddedFont>
      <p:font typeface="Mona Sans ExtraLight"/>
      <p:regular r:id="rId201323"/>
    </p:embeddedFont>
    <p:embeddedFont>
      <p:font typeface="Mona Sans Light"/>
      <p:regular r:id="rId201324"/>
    </p:embeddedFont>
    <p:embeddedFont>
      <p:font typeface="Mona Sans"/>
      <p:regular r:id="rId201325"/>
    </p:embeddedFont>
    <p:embeddedFont>
      <p:font typeface="Mona Sans Medium"/>
      <p:regular r:id="rId201326"/>
    </p:embeddedFont>
    <p:embeddedFont>
      <p:font typeface="Mona Sans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4604" y="599405"/>
            <a:ext cx="2958480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032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Loop Engineering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445916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Modern AI agents don't just respond — they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iterate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Loop Engineering is the discipline of designing systems that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Reason → Act → Observe → Repeat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until a goal is achieved, moving beyond one-shot execution to adaptive, production-grade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781" y="584746"/>
            <a:ext cx="298050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0989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Is Everyone Talking About It?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96119" y="1290489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Leaders like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Peter Steinberger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(OpenAI) and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Boris Cherny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(Anthropic) signal a fundamental shift: AI products are no longer just chatbots — they're becoming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agents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The engineering discipline has evolved through four distinct phases: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914823"/>
            <a:ext cx="586978" cy="7044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0281" y="2032174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Prompt Engineering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19226"/>
            <a:ext cx="586978" cy="704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0281" y="2736577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Context Engineering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23630"/>
            <a:ext cx="586978" cy="704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0281" y="3440981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Agent Engineering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4028033"/>
            <a:ext cx="586978" cy="70440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0281" y="4145384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Loop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6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How Does a Loop Work?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2216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loop follows a conceptual lifecycle — from first discovery to final reflection. This is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happens during execution: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46411"/>
            <a:ext cx="25075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Discover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1952923"/>
            <a:ext cx="25075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the problem space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2688" y="1891085"/>
            <a:ext cx="212080" cy="212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0276" y="1646411"/>
            <a:ext cx="2507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Plan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40276" y="1952923"/>
            <a:ext cx="25076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Devise a strategy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6442" y="2062758"/>
            <a:ext cx="212080" cy="212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2035" y="2668265"/>
            <a:ext cx="23658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Execute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282035" y="2974777"/>
            <a:ext cx="23658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Take action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9639" y="3000524"/>
            <a:ext cx="212080" cy="2120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40276" y="3690193"/>
            <a:ext cx="2507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Observe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140276" y="3996705"/>
            <a:ext cx="25076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Measure the outcome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9083" y="3766617"/>
            <a:ext cx="212080" cy="2120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96119" y="3690193"/>
            <a:ext cx="25075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Reflect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496119" y="3996705"/>
            <a:ext cx="25075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Evaluate and adapt</a:t>
            </a:r>
            <a:endParaRPr lang="en-US" sz="11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5329" y="3594943"/>
            <a:ext cx="212080" cy="21208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96119" y="2668265"/>
            <a:ext cx="23657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Repeat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496119" y="2974777"/>
            <a:ext cx="2365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Iterate until goal is met</a:t>
            </a:r>
            <a:endParaRPr lang="en-US" sz="11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82132" y="2657177"/>
            <a:ext cx="212080" cy="21208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96119" y="452102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Production systems require much more than a simple loop.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6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Building Blocks of a Production Loop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71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Addy Osmani's six primitives transform conceptual loops into production-ready systems: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33389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77991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Automations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08642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Trigger recurring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633389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9363" y="177991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Worktrees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086421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Isolated workspaces per agent, sharing repo history for true parallel execution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828330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2974851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Skills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281363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Reusable knowledge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828330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9363" y="2974851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Plugins / MCP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9363" y="3281363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Tool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796457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40" y="394297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Sub-agents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2640" y="4249489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Specialized responsibilities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796457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9363" y="394297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Persistent Memory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89363" y="4249489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Long-term state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56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Makes a Good Loop?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29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Design Decisions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8618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Should I retry? Stop? Ask another agent?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Should I verify? Use another tool?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 should I remember?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925217"/>
            <a:ext cx="3902943" cy="1233190"/>
          </a:xfrm>
          <a:prstGeom prst="roundRect">
            <a:avLst>
              <a:gd name="adj" fmla="val 4828"/>
            </a:avLst>
          </a:prstGeom>
          <a:solidFill>
            <a:srgbClr val="4040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145036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088184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Many production agents complete tasks in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3–10 iterations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Frameworks expose configurable iteration limits to balance accuracy, latency, and cost.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6229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Metrics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2003896"/>
            <a:ext cx="1880592" cy="5430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6710" y="216470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Success Rate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2052" y="2003896"/>
            <a:ext cx="1880592" cy="5430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09061" y="216470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Cost &amp; Latency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701" y="2688729"/>
            <a:ext cx="1880592" cy="7645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86710" y="2849538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Iterations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2052" y="2688729"/>
            <a:ext cx="1880592" cy="7645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09061" y="2849538"/>
            <a:ext cx="1482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Tool Success Rate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49701" y="3595018"/>
            <a:ext cx="1880592" cy="54307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86710" y="3755827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Recovery Rate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937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Framework Support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88380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Frameworks help implement production loops with varying capabilities: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34480"/>
            <a:ext cx="8151763" cy="2452688"/>
          </a:xfrm>
          <a:prstGeom prst="roundRect">
            <a:avLst>
              <a:gd name="adj" fmla="val 227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12528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386980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761431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135883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510335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80779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46364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11949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7534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3859" y="1518717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Feature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16064" y="1518717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1649" y="1518717"/>
            <a:ext cx="11950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OpenAI Agents SDK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7234" y="1518717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AutoGen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2819" y="1518717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Durable 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859" y="2094384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Durable execution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16064" y="2094384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1649" y="2094384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47234" y="2094384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2819" y="2094384"/>
            <a:ext cx="165459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859" y="2468835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16064" y="2468835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1649" y="2468835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Trace-based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47234" y="2468835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2819" y="2468835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859" y="2843287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Tool calling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16064" y="2843287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1649" y="2843287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47234" y="2843287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2819" y="2843287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3859" y="3217738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Human approval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16064" y="3217738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1649" y="3217738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47234" y="3217738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2819" y="3217738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3859" y="3592190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16064" y="3592190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1649" y="3592190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47234" y="3592190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 memory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2819" y="3592190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5474" y="4167411"/>
            <a:ext cx="79524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"The art of loop engineering is designing how an agent iteratively plans, executes, evaluates, and adapts — not simply prompting it." — LangChain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6119" y="4027289"/>
            <a:ext cx="14288" cy="692200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925" y="595387"/>
            <a:ext cx="2964507" cy="3952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6570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Real-World Applications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496119" y="1032049"/>
            <a:ext cx="4722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Loop engineering powers autonomous systems across industries — each follows a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 → Loop → Outcome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pattern.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99158"/>
            <a:ext cx="4722763" cy="1393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1753270"/>
            <a:ext cx="4338340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Software Development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26430" y="2051149"/>
            <a:ext cx="4338340" cy="78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One prompt cannot reliably fix a bug.</a:t>
            </a:r>
            <a:endParaRPr lang="en-US" sz="105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Analyze → Modify → Test → Observe → Retry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Autonomous debugging.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21819"/>
            <a:ext cx="4722763" cy="16050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430" y="3275930"/>
            <a:ext cx="4338340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🎧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Customer Support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26430" y="3573810"/>
            <a:ext cx="4338340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Refunds require verification.</a:t>
            </a:r>
            <a:endParaRPr lang="en-US" sz="105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Read account → Check purchase → Verify policy → Execute refund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Policy-compliant automation.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667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Real-World Applications (cont.)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93280"/>
            <a:ext cx="4004965" cy="1483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54089"/>
            <a:ext cx="36071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Research Assistant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665363"/>
            <a:ext cx="3607147" cy="85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One search rarely finds sufficient evidence.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Search → Read → Compare → Search again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Evidence-backed synthesis.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193280"/>
            <a:ext cx="4005039" cy="14834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354089"/>
            <a:ext cx="3607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Cybersecurity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2665363"/>
            <a:ext cx="3607222" cy="85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One alert isn't enough.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Collect logs → Correlate → Investigate → Escalate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Faster incident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Challenges &amp; Best Practices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Infinite Loops: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Always set iteration limits.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Cost Control: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Track token usage per iteration.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Observability: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Log every step for debugging.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State Management: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Persist context across failures.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Human Oversight: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Add approval gates for critical actions.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Define clear exit conditions.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retry logic with backoff.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structured outputs for reliability.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success rate, cost, and latency.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for graceful degradation.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353" y="590104"/>
            <a:ext cx="2972470" cy="3963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2122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Takeaways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96119" y="995288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7087" y="1126257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Loops Are the New 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087" y="1390948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Agents that iterate outperform one-shot systems.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1825303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7087" y="1956271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Design for Production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7087" y="2220962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Worktrees, persistent memory, and sub-agents are essential primitives.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2655317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087" y="2786286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Measure Everything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7087" y="3050977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Track success rate, cost, latency, and iterations.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485331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087" y="3616300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Choose the Right Framework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7087" y="3880991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LangGraph, OpenAI Agents SDK, and AutoGen each offer different trade-offs.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6119" y="4329410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 Engineering isn't just a trend — it's the foundation of reliable, autonomous AI systems.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2026-07-28T18:02:21Z</dcterms:created>
  <dcterms:modified xsi:type="dcterms:W3CDTF">2026-07-28T18:02:21Z</dcterms:modified>
</cp:coreProperties>
</file>