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Funnel Sans Bold"/>
      <p:regular r:id="rId201314"/>
    </p:embeddedFont>
    <p:embeddedFont>
      <p:font typeface="Funnel Sans ExtraBold"/>
      <p:regular r:id="rId201315"/>
    </p:embeddedFont>
    <p:embeddedFont>
      <p:font typeface="Funnel Sans Light"/>
      <p:regular r:id="rId201316"/>
    </p:embeddedFont>
    <p:embeddedFont>
      <p:font typeface="Funnel Sans"/>
      <p:regular r:id="rId201317"/>
    </p:embeddedFont>
    <p:embeddedFont>
      <p:font typeface="Funnel Sans Medium"/>
      <p:regular r:id="rId201318"/>
    </p:embeddedFont>
    <p:embeddedFont>
      <p:font typeface="Funnel Sans SemiBold"/>
      <p:regular r:id="rId201319"/>
    </p:embeddedFont>
    <p:embeddedFont>
      <p:font typeface="Mona Sans Bold"/>
      <p:regular r:id="rId201320"/>
    </p:embeddedFont>
    <p:embeddedFont>
      <p:font typeface="Mona Sans ExtraBold"/>
      <p:regular r:id="rId201321"/>
    </p:embeddedFont>
    <p:embeddedFont>
      <p:font typeface="Mona Sans Black"/>
      <p:regular r:id="rId201322"/>
    </p:embeddedFont>
    <p:embeddedFont>
      <p:font typeface="Mona Sans ExtraLight"/>
      <p:regular r:id="rId201323"/>
    </p:embeddedFont>
    <p:embeddedFont>
      <p:font typeface="Mona Sans Light"/>
      <p:regular r:id="rId201324"/>
    </p:embeddedFont>
    <p:embeddedFont>
      <p:font typeface="Mona Sans"/>
      <p:regular r:id="rId201325"/>
    </p:embeddedFont>
    <p:embeddedFont>
      <p:font typeface="Mona Sans Medium"/>
      <p:regular r:id="rId201326"/>
    </p:embeddedFont>
    <p:embeddedFont>
      <p:font typeface="Mona Sans SemiBold"/>
      <p:regular r:id="rId2013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sv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6.png"/><Relationship Id="rId9" Type="http://schemas.openxmlformats.org/officeDocument/2006/relationships/image" Target="../media/image-5-7.svg"/><Relationship Id="rId10" Type="http://schemas.openxmlformats.org/officeDocument/2006/relationships/image" Target="../media/image-5-2.png"/><Relationship Id="rId11" Type="http://schemas.openxmlformats.org/officeDocument/2006/relationships/image" Target="../media/image-5-3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72100" y="0"/>
            <a:ext cx="3771900" cy="51435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4604" y="599405"/>
            <a:ext cx="2958480" cy="39446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790328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Loop Engineering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445916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Modern AI agents don't just respond — they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iterate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Loop Engineering is the discipline of designing systems that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Reason → Act → Observe → Repeat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until a goal is achieved, moving beyond one-shot execution to adaptive, production-grade intelligence.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72100" y="0"/>
            <a:ext cx="3771900" cy="51435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4781" y="584746"/>
            <a:ext cx="2980506" cy="39740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10989"/>
            <a:ext cx="4722763" cy="733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Why Is Everyone Talking About It?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496119" y="1290489"/>
            <a:ext cx="4722763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Leaders like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Peter Steinberger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(OpenAI) and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Boris Cherny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(Anthropic) signal a fundamental shift: AI products are no longer just chatbots — they're becoming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agents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The engineering discipline has evolved through four distinct phases: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1914823"/>
            <a:ext cx="586978" cy="7044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0281" y="2032174"/>
            <a:ext cx="403860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Prompt Engineering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619226"/>
            <a:ext cx="586978" cy="70440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80281" y="2736577"/>
            <a:ext cx="403860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Context Engineering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3323630"/>
            <a:ext cx="586978" cy="70440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80281" y="3440981"/>
            <a:ext cx="403860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Agent Engineering</a:t>
            </a:r>
            <a:endParaRPr lang="en-US" sz="11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4028033"/>
            <a:ext cx="586978" cy="70440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80281" y="4145384"/>
            <a:ext cx="403860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Loop Engineering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66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How Does a Loop Work?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2216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Every loop follows a conceptual lifecycle — from first discovery to final reflection. This is </a:t>
            </a:r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what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happens during execution: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646411"/>
            <a:ext cx="25075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Discover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1952923"/>
            <a:ext cx="25075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Identify the problem space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5408" y="1508447"/>
            <a:ext cx="2853110" cy="285311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22688" y="1891085"/>
            <a:ext cx="212080" cy="212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40276" y="1646411"/>
            <a:ext cx="25076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Plan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140276" y="1952923"/>
            <a:ext cx="25076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Devise a strategy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5408" y="1508447"/>
            <a:ext cx="2853110" cy="285311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06442" y="2062758"/>
            <a:ext cx="212080" cy="2120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82035" y="2668265"/>
            <a:ext cx="23658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Execute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6282035" y="2974777"/>
            <a:ext cx="23658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Take action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5408" y="1508447"/>
            <a:ext cx="2853110" cy="2853110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49639" y="3000524"/>
            <a:ext cx="212080" cy="2120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140276" y="3690193"/>
            <a:ext cx="25076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Observe</a:t>
            </a:r>
            <a:endParaRPr lang="en-US" sz="1350" dirty="0"/>
          </a:p>
        </p:txBody>
      </p:sp>
      <p:sp>
        <p:nvSpPr>
          <p:cNvPr id="17" name="Text 9"/>
          <p:cNvSpPr/>
          <p:nvPr/>
        </p:nvSpPr>
        <p:spPr>
          <a:xfrm>
            <a:off x="6140276" y="3996705"/>
            <a:ext cx="25076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Measure the outcome</a:t>
            </a:r>
            <a:endParaRPr lang="en-US" sz="11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45408" y="1508447"/>
            <a:ext cx="2853110" cy="2853110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09083" y="3766617"/>
            <a:ext cx="212080" cy="21208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496119" y="3690193"/>
            <a:ext cx="25075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Reflect</a:t>
            </a:r>
            <a:endParaRPr lang="en-US" sz="1350" dirty="0"/>
          </a:p>
        </p:txBody>
      </p:sp>
      <p:sp>
        <p:nvSpPr>
          <p:cNvPr id="21" name="Text 11"/>
          <p:cNvSpPr/>
          <p:nvPr/>
        </p:nvSpPr>
        <p:spPr>
          <a:xfrm>
            <a:off x="496119" y="3996705"/>
            <a:ext cx="25075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Evaluate and adapt</a:t>
            </a:r>
            <a:endParaRPr lang="en-US" sz="11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45408" y="1508447"/>
            <a:ext cx="2853110" cy="2853110"/>
          </a:xfrm>
          <a:prstGeom prst="rect">
            <a:avLst/>
          </a:prstGeom>
        </p:spPr>
      </p:pic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825329" y="3594943"/>
            <a:ext cx="212080" cy="212080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496119" y="2668265"/>
            <a:ext cx="23657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Repeat</a:t>
            </a:r>
            <a:endParaRPr lang="en-US" sz="1350" dirty="0"/>
          </a:p>
        </p:txBody>
      </p:sp>
      <p:sp>
        <p:nvSpPr>
          <p:cNvPr id="25" name="Text 13"/>
          <p:cNvSpPr/>
          <p:nvPr/>
        </p:nvSpPr>
        <p:spPr>
          <a:xfrm>
            <a:off x="496119" y="2974777"/>
            <a:ext cx="23657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Iterate until goal is met</a:t>
            </a:r>
            <a:endParaRPr lang="en-US" sz="110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145408" y="1508447"/>
            <a:ext cx="2853110" cy="2853110"/>
          </a:xfrm>
          <a:prstGeom prst="rect">
            <a:avLst/>
          </a:prstGeom>
        </p:spPr>
      </p:pic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482132" y="2657177"/>
            <a:ext cx="212080" cy="212080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496119" y="452102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Production systems require much more than a simple loop.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060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Building Blocks of a Production Loop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4710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Addy Osmani's six primitives transform conceptual loops into production-ready systems: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633389"/>
            <a:ext cx="4004965" cy="1053182"/>
          </a:xfrm>
          <a:prstGeom prst="roundRect">
            <a:avLst>
              <a:gd name="adj" fmla="val 5654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640" y="1779910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Automations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2640" y="2086421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Trigger recurring work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1633389"/>
            <a:ext cx="4005039" cy="1053182"/>
          </a:xfrm>
          <a:prstGeom prst="roundRect">
            <a:avLst>
              <a:gd name="adj" fmla="val 5654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89363" y="1779910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Worktrees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89363" y="2086421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Isolated workspaces per agent, sharing repo history for true parallel execution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2828330"/>
            <a:ext cx="4004965" cy="826368"/>
          </a:xfrm>
          <a:prstGeom prst="roundRect">
            <a:avLst>
              <a:gd name="adj" fmla="val 7205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640" y="2974851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Skills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2640" y="3281363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Reusable knowledge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2842" y="2828330"/>
            <a:ext cx="4005039" cy="826368"/>
          </a:xfrm>
          <a:prstGeom prst="roundRect">
            <a:avLst>
              <a:gd name="adj" fmla="val 7205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9363" y="2974851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Plugins / MCP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89363" y="3281363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Tool integration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796457"/>
            <a:ext cx="4004965" cy="826368"/>
          </a:xfrm>
          <a:prstGeom prst="roundRect">
            <a:avLst>
              <a:gd name="adj" fmla="val 7205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640" y="3942978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Sub-agents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2640" y="4249489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Specialized responsibilities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42842" y="3796457"/>
            <a:ext cx="4005039" cy="826368"/>
          </a:xfrm>
          <a:prstGeom prst="roundRect">
            <a:avLst>
              <a:gd name="adj" fmla="val 7205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89363" y="3942978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Persistent Memory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789363" y="4249489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Long-term state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562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What Makes a Good Loop?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2297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Design Decisions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986186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Should I retry? Stop? Ask another agent?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Should I verify? Use another tool?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What should I remember?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925217"/>
            <a:ext cx="3902943" cy="1233190"/>
          </a:xfrm>
          <a:prstGeom prst="roundRect">
            <a:avLst>
              <a:gd name="adj" fmla="val 4828"/>
            </a:avLst>
          </a:prstGeom>
          <a:solidFill>
            <a:srgbClr val="4040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145036"/>
            <a:ext cx="177180" cy="1417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6816" y="3088184"/>
            <a:ext cx="330048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Many production agents complete tasks in approximately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3–10 iterations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Frameworks expose configurable iteration limits to balance accuracy, latency, and cost.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49701" y="162297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Key Metrics</a:t>
            </a:r>
            <a:endParaRPr lang="en-US" sz="13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9701" y="2003896"/>
            <a:ext cx="1880592" cy="5430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86710" y="2164705"/>
            <a:ext cx="14827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Success Rate</a:t>
            </a:r>
            <a:endParaRPr lang="en-US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72052" y="2003896"/>
            <a:ext cx="1880592" cy="54307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009061" y="2164705"/>
            <a:ext cx="14827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Cost &amp; Latency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49701" y="2688729"/>
            <a:ext cx="1880592" cy="76453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86710" y="2849538"/>
            <a:ext cx="14827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Iterations</a:t>
            </a:r>
            <a:endParaRPr lang="en-US" sz="13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72052" y="2688729"/>
            <a:ext cx="1880592" cy="76453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09061" y="2849538"/>
            <a:ext cx="148277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Tool Success Rate</a:t>
            </a:r>
            <a:endParaRPr lang="en-US" sz="13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49701" y="3595018"/>
            <a:ext cx="1880592" cy="54307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986710" y="3755827"/>
            <a:ext cx="14827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Recovery Rate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3937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Framework Support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1088380"/>
            <a:ext cx="860896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Frameworks help implement production loops with varying capabilities: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434480"/>
            <a:ext cx="8151763" cy="2452688"/>
          </a:xfrm>
          <a:prstGeom prst="roundRect">
            <a:avLst>
              <a:gd name="adj" fmla="val 2276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2012528"/>
            <a:ext cx="8151763" cy="830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386980"/>
            <a:ext cx="8151763" cy="830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761431"/>
            <a:ext cx="8151763" cy="830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135883"/>
            <a:ext cx="8151763" cy="830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510335"/>
            <a:ext cx="8151763" cy="830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780779" y="1434480"/>
            <a:ext cx="8307" cy="245268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246364" y="1434480"/>
            <a:ext cx="8307" cy="245268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711949" y="1434480"/>
            <a:ext cx="8307" cy="245268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177534" y="1434480"/>
            <a:ext cx="8307" cy="245268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33859" y="1518717"/>
            <a:ext cx="246883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Feature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16064" y="1518717"/>
            <a:ext cx="16522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1649" y="1518717"/>
            <a:ext cx="119501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OpenAI Agents SDK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47234" y="1518717"/>
            <a:ext cx="16522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AutoGen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2819" y="1518717"/>
            <a:ext cx="165459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Durable Execution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3859" y="2094384"/>
            <a:ext cx="246883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Durable execution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16064" y="2094384"/>
            <a:ext cx="1652215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✅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1649" y="2094384"/>
            <a:ext cx="16522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Partial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47234" y="2094384"/>
            <a:ext cx="16522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Partial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2819" y="2094384"/>
            <a:ext cx="1654597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✅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3859" y="2468835"/>
            <a:ext cx="246883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Checkpoints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16064" y="2468835"/>
            <a:ext cx="1652215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✅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81649" y="2468835"/>
            <a:ext cx="16522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Trace-based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47234" y="2468835"/>
            <a:ext cx="16522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Partial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2819" y="2468835"/>
            <a:ext cx="165459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3859" y="2843287"/>
            <a:ext cx="246883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Tool calling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16064" y="2843287"/>
            <a:ext cx="1652215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✅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81649" y="2843287"/>
            <a:ext cx="1652215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47234" y="2843287"/>
            <a:ext cx="1652215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✅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2819" y="2843287"/>
            <a:ext cx="165459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—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3859" y="3217738"/>
            <a:ext cx="246883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Human approval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916064" y="3217738"/>
            <a:ext cx="1652215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✅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81649" y="3217738"/>
            <a:ext cx="16522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Partial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847234" y="3217738"/>
            <a:ext cx="16522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Partial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2819" y="3217738"/>
            <a:ext cx="165459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—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3859" y="3592190"/>
            <a:ext cx="246883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State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916064" y="3592190"/>
            <a:ext cx="1652215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✅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381649" y="3592190"/>
            <a:ext cx="16522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Session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847234" y="3592190"/>
            <a:ext cx="16522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Agent memory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12819" y="3592190"/>
            <a:ext cx="165459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5474" y="4167411"/>
            <a:ext cx="795240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"The art of loop engineering is designing how an agent iteratively plans, executes, evaluates, and adapts — not simply prompting it." — LangChain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96119" y="4027289"/>
            <a:ext cx="14288" cy="692200"/>
          </a:xfrm>
          <a:prstGeom prst="roundRect">
            <a:avLst>
              <a:gd name="adj" fmla="val 49998"/>
            </a:avLst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72100" y="0"/>
            <a:ext cx="3771900" cy="51435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1925" y="595387"/>
            <a:ext cx="2964507" cy="39527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16570"/>
            <a:ext cx="4722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Real-World Applications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496119" y="1032049"/>
            <a:ext cx="472276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Loop engineering powers autonomous systems across industries — each follows a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Problem → Loop → Outcome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pattern.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99158"/>
            <a:ext cx="4722763" cy="13939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6430" y="1753270"/>
            <a:ext cx="4338340" cy="220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🛠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Software Development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26430" y="2051149"/>
            <a:ext cx="4338340" cy="787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Problem: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One prompt cannot reliably fix a bug.</a:t>
            </a:r>
            <a:endParaRPr lang="en-US" sz="105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Loop: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Analyze → Modify → Test → Observe → Retry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Outcome: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Autonomous debugging.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121819"/>
            <a:ext cx="4722763" cy="160503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26430" y="3275930"/>
            <a:ext cx="4338340" cy="220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🎧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Customer Support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726430" y="3573810"/>
            <a:ext cx="4338340" cy="998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Problem: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Refunds require verification.</a:t>
            </a:r>
            <a:endParaRPr lang="en-US" sz="105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Loop: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Read account → Check purchase → Verify policy → Execute refund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Outcome: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Policy-compliant automation.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6677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Real-World Applications (cont.)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193280"/>
            <a:ext cx="4004965" cy="14834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2354089"/>
            <a:ext cx="360714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🔬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Research Assistant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2665363"/>
            <a:ext cx="3607147" cy="850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Problem: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One search rarely finds sufficient evidence.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Loop: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Search → Read → Compare → Search again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Outcome: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Evidence-backed synthesis.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2193280"/>
            <a:ext cx="4005039" cy="14834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79851" y="2354089"/>
            <a:ext cx="36072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🔐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Cybersecurity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879851" y="2665363"/>
            <a:ext cx="3607222" cy="850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Problem: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One alert isn't enough.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Loop: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Collect logs → Correlate → Investigate → Escalate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Outcome: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Faster incident response.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0053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Challenges &amp; Best Practices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09788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Key Challenges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461096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Infinite Loops: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Always set iteration limits.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Cost Control: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Track token usage per iteration.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Observability: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Log every step for debugging.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State Management: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Persist context across failures.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Human Oversight: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Add approval gates for critical actions.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209788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Best Practices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2461096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Define clear exit conditions.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Implement retry logic with backoff.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 structured outputs for reliability.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Monitor success rate, cost, and latency.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Design for graceful degradation.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72100" y="0"/>
            <a:ext cx="3771900" cy="51435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353" y="590104"/>
            <a:ext cx="2972470" cy="3963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32122"/>
            <a:ext cx="4722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Key Takeaways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496119" y="995288"/>
            <a:ext cx="4722763" cy="717575"/>
          </a:xfrm>
          <a:prstGeom prst="roundRect">
            <a:avLst>
              <a:gd name="adj" fmla="val 7390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7087" y="1126257"/>
            <a:ext cx="44608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Loops Are the New Architecture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7087" y="1390948"/>
            <a:ext cx="44608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Agents that iterate outperform one-shot systems.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96119" y="1825303"/>
            <a:ext cx="4722763" cy="717575"/>
          </a:xfrm>
          <a:prstGeom prst="roundRect">
            <a:avLst>
              <a:gd name="adj" fmla="val 7390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7087" y="1956271"/>
            <a:ext cx="44608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Design for Production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7087" y="2220962"/>
            <a:ext cx="44608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Worktrees, persistent memory, and sub-agents are essential primitives.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96119" y="2655317"/>
            <a:ext cx="4722763" cy="717575"/>
          </a:xfrm>
          <a:prstGeom prst="roundRect">
            <a:avLst>
              <a:gd name="adj" fmla="val 7390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7087" y="2786286"/>
            <a:ext cx="44608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Measure Everything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7087" y="3050977"/>
            <a:ext cx="44608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Track success rate, cost, latency, and iterations.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96119" y="3485331"/>
            <a:ext cx="4722763" cy="717575"/>
          </a:xfrm>
          <a:prstGeom prst="roundRect">
            <a:avLst>
              <a:gd name="adj" fmla="val 7390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7087" y="3616300"/>
            <a:ext cx="44608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Choose the Right Framework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7087" y="3880991"/>
            <a:ext cx="44608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LangGraph, OpenAI Agents SDK, and AutoGen each offer different trade-offs.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96119" y="4329410"/>
            <a:ext cx="472276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Loop Engineering isn't just a trend — it's the foundation of reliable, autonomous AI systems.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2026-07-28T18:07:06Z</dcterms:created>
  <dcterms:modified xsi:type="dcterms:W3CDTF">2026-07-28T18:07:06Z</dcterms:modified>
</cp:coreProperties>
</file>