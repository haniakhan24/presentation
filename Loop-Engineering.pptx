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rygada 1918"/>
      <p:regular r:id="rId201314"/>
    </p:embeddedFont>
    <p:embeddedFont>
      <p:font typeface="Brygada 1918 Medium"/>
      <p:regular r:id="rId201315"/>
    </p:embeddedFont>
    <p:embeddedFont>
      <p:font typeface="Brygada 1918 SemiBold"/>
      <p:regular r:id="rId201316"/>
    </p:embeddedFont>
    <p:embeddedFont>
      <p:font typeface="Brygada 1918 Bold"/>
      <p:regular r:id="rId201317"/>
    </p:embeddedFont>
    <p:embeddedFont>
      <p:font typeface="Montserrat Thin"/>
      <p:regular r:id="rId201318"/>
    </p:embeddedFont>
    <p:embeddedFont>
      <p:font typeface="Montserrat"/>
      <p:regular r:id="rId201319"/>
    </p:embeddedFont>
    <p:embeddedFont>
      <p:font typeface="Montserrat SemiBold"/>
      <p:regular r:id="rId201320"/>
    </p:embeddedFont>
    <p:embeddedFont>
      <p:font typeface="Montserrat Bold"/>
      <p:regular r:id="rId201321"/>
    </p:embeddedFont>
    <p:embeddedFont>
      <p:font typeface="Montserrat Black"/>
      <p:regular r:id="rId201322"/>
    </p:embeddedFont>
    <p:embeddedFont>
      <p:font typeface="Montserrat Light"/>
      <p:regular r:id="rId201323"/>
    </p:embeddedFont>
    <p:embeddedFont>
      <p:font typeface="Montserrat ExtraLight"/>
      <p:regular r:id="rId201324"/>
    </p:embeddedFont>
    <p:embeddedFont>
      <p:font typeface="Montserrat Medium"/>
      <p:regular r:id="rId201325"/>
    </p:embeddedFont>
    <p:embeddedFont>
      <p:font typeface="Montserrat ExtraBold"/>
      <p:regular r:id="rId2013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sv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.png"/><Relationship Id="rId14" Type="http://schemas.openxmlformats.org/officeDocument/2006/relationships/image" Target="../media/image-4-2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.png"/><Relationship Id="rId18" Type="http://schemas.openxmlformats.org/officeDocument/2006/relationships/image" Target="../media/image-4-2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1.png"/><Relationship Id="rId22" Type="http://schemas.openxmlformats.org/officeDocument/2006/relationships/image" Target="../media/image-4-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8288" y="1857449"/>
            <a:ext cx="4778425" cy="445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Loop Engineering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68288" y="2504108"/>
            <a:ext cx="4778425" cy="42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new paradigm in AI engineering — where agents don't just respond, they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reason, act, observe, and repeat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until the task is done.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68288" y="3082677"/>
            <a:ext cx="791468" cy="203299"/>
          </a:xfrm>
          <a:prstGeom prst="roundRect">
            <a:avLst>
              <a:gd name="adj" fmla="val 7899"/>
            </a:avLst>
          </a:prstGeom>
          <a:solidFill>
            <a:srgbClr val="4D1700"/>
          </a:solidFill>
          <a:ln/>
        </p:spPr>
      </p:sp>
      <p:sp>
        <p:nvSpPr>
          <p:cNvPr id="6" name="Text 3"/>
          <p:cNvSpPr/>
          <p:nvPr/>
        </p:nvSpPr>
        <p:spPr>
          <a:xfrm>
            <a:off x="548506" y="3122786"/>
            <a:ext cx="1088231" cy="12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AGENTIC AI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326654" y="3082677"/>
            <a:ext cx="1635770" cy="203299"/>
          </a:xfrm>
          <a:prstGeom prst="roundRect">
            <a:avLst>
              <a:gd name="adj" fmla="val 7899"/>
            </a:avLst>
          </a:prstGeom>
          <a:noFill/>
          <a:ln w="4763">
            <a:solidFill>
              <a:srgbClr val="FFB3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06872" y="3122786"/>
            <a:ext cx="1932533" cy="12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FB39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ENGINEERING PRINCIPLES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029322" y="3082677"/>
            <a:ext cx="1454423" cy="203299"/>
          </a:xfrm>
          <a:prstGeom prst="roundRect">
            <a:avLst>
              <a:gd name="adj" fmla="val 7899"/>
            </a:avLst>
          </a:prstGeom>
          <a:noFill/>
          <a:ln w="4763">
            <a:solidFill>
              <a:srgbClr val="FFB3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09540" y="3122786"/>
            <a:ext cx="1751186" cy="12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FB39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PRODUCTION SYSTEMS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7288" y="378768"/>
            <a:ext cx="4778425" cy="78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Why Is Everyone Talking About It?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3897288" y="1313036"/>
            <a:ext cx="4778425" cy="526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Peter Steinberger (OpenAI) and Boris Cherny (Anthropic) have championed this shift. Modern AI products are no longer just chatbots — they're becoming </a:t>
            </a:r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agents</a:t>
            </a:r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8" y="1954857"/>
            <a:ext cx="585415" cy="70246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85097" y="2071911"/>
            <a:ext cx="4090615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Prompt Engineering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288" y="2657326"/>
            <a:ext cx="585415" cy="70246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85097" y="2774379"/>
            <a:ext cx="4090615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Context Engineering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288" y="3359795"/>
            <a:ext cx="585415" cy="70246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85097" y="3476848"/>
            <a:ext cx="4090615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Agent Engineering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7288" y="4062264"/>
            <a:ext cx="585415" cy="70246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585097" y="4179317"/>
            <a:ext cx="4090615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Loop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288" y="414114"/>
            <a:ext cx="8207425" cy="445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How Does a Loop Work?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68288" y="1127671"/>
            <a:ext cx="8664625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conceptual lifecycle of an AI agent — from initial discovery through repeated refinement.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68288" y="1645444"/>
            <a:ext cx="2533650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Discover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8288" y="1948681"/>
            <a:ext cx="2533650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Understand the task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5734" y="1492225"/>
            <a:ext cx="2872532" cy="287253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6297" y="1884201"/>
            <a:ext cx="200174" cy="2001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42062" y="1645444"/>
            <a:ext cx="2533650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Plan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142062" y="1948681"/>
            <a:ext cx="2533650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Devise a strategy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734" y="1492225"/>
            <a:ext cx="2872532" cy="2872532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16748" y="2057065"/>
            <a:ext cx="200174" cy="20017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75859" y="2669828"/>
            <a:ext cx="2399854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Execute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6275859" y="2973065"/>
            <a:ext cx="2399854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Take action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5734" y="1492225"/>
            <a:ext cx="2872532" cy="287253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2253" y="3001156"/>
            <a:ext cx="200174" cy="20017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42062" y="3694212"/>
            <a:ext cx="2533650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Observe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6142062" y="3997449"/>
            <a:ext cx="2533650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Monitor results</a:t>
            </a:r>
            <a:endParaRPr lang="en-US" sz="10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35734" y="1492225"/>
            <a:ext cx="2872532" cy="2872532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17380" y="3772458"/>
            <a:ext cx="200174" cy="20017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68288" y="3694212"/>
            <a:ext cx="2533650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Reflect</a:t>
            </a:r>
            <a:endParaRPr lang="en-US" sz="1400" dirty="0"/>
          </a:p>
        </p:txBody>
      </p:sp>
      <p:sp>
        <p:nvSpPr>
          <p:cNvPr id="21" name="Text 11"/>
          <p:cNvSpPr/>
          <p:nvPr/>
        </p:nvSpPr>
        <p:spPr>
          <a:xfrm>
            <a:off x="468288" y="3997449"/>
            <a:ext cx="2533650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Evaluate outcomes</a:t>
            </a:r>
            <a:endParaRPr lang="en-US" sz="10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35734" y="1492225"/>
            <a:ext cx="2872532" cy="2872532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26929" y="3599594"/>
            <a:ext cx="200174" cy="200174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468288" y="2669828"/>
            <a:ext cx="2399854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Repeat</a:t>
            </a:r>
            <a:endParaRPr lang="en-US" sz="1400" dirty="0"/>
          </a:p>
        </p:txBody>
      </p:sp>
      <p:sp>
        <p:nvSpPr>
          <p:cNvPr id="25" name="Text 13"/>
          <p:cNvSpPr/>
          <p:nvPr/>
        </p:nvSpPr>
        <p:spPr>
          <a:xfrm>
            <a:off x="468288" y="2973065"/>
            <a:ext cx="2399854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Iterate until done</a:t>
            </a:r>
            <a:endParaRPr lang="en-US" sz="10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35734" y="1492225"/>
            <a:ext cx="2872532" cy="2872532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81425" y="2655503"/>
            <a:ext cx="200174" cy="200174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468288" y="4515296"/>
            <a:ext cx="8664625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This explains </a:t>
            </a:r>
            <a:pPr algn="l" indent="0" marL="0">
              <a:lnSpc>
                <a:spcPct val="133000"/>
              </a:lnSpc>
              <a:buNone/>
            </a:pPr>
            <a:r>
              <a:rPr lang="en-US" sz="1050" i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what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happens during execution. But production systems require much more than a simple loop.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288" y="388590"/>
            <a:ext cx="8207425" cy="313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From Conceptual Loops to Production Loops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68288" y="834554"/>
            <a:ext cx="8664625" cy="128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Addy Osmani's six primitives for engineering production-ready agent loops.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288" y="1037109"/>
            <a:ext cx="8207425" cy="56450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387" y="1248817"/>
            <a:ext cx="141089" cy="1410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0279" y="1140693"/>
            <a:ext cx="7651849" cy="156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Automations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920279" y="1337146"/>
            <a:ext cx="7651849" cy="128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Trigger recurring work</a:t>
            </a:r>
            <a:endParaRPr lang="en-US" sz="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288" y="1667768"/>
            <a:ext cx="8207425" cy="564505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5387" y="1879476"/>
            <a:ext cx="141089" cy="14108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20279" y="1771352"/>
            <a:ext cx="7651849" cy="156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Worktrees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920279" y="1967805"/>
            <a:ext cx="7651849" cy="128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Safe parallel execution — each agent gets an isolated workspace sharing the same repository history</a:t>
            </a:r>
            <a:endParaRPr lang="en-US" sz="7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8288" y="2298427"/>
            <a:ext cx="8207425" cy="564505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5387" y="2510135"/>
            <a:ext cx="141089" cy="14108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20279" y="2402012"/>
            <a:ext cx="7651849" cy="156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Skills</a:t>
            </a:r>
            <a:endParaRPr lang="en-US" sz="950" dirty="0"/>
          </a:p>
        </p:txBody>
      </p:sp>
      <p:sp>
        <p:nvSpPr>
          <p:cNvPr id="15" name="Text 7"/>
          <p:cNvSpPr/>
          <p:nvPr/>
        </p:nvSpPr>
        <p:spPr>
          <a:xfrm>
            <a:off x="920279" y="2598465"/>
            <a:ext cx="7651849" cy="128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Reusable knowledge</a:t>
            </a:r>
            <a:endParaRPr lang="en-US" sz="7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8288" y="2929086"/>
            <a:ext cx="8207425" cy="564505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5387" y="3140794"/>
            <a:ext cx="141089" cy="141089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920279" y="3032671"/>
            <a:ext cx="7651849" cy="156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Plugins / MCP</a:t>
            </a:r>
            <a:endParaRPr lang="en-US" sz="950" dirty="0"/>
          </a:p>
        </p:txBody>
      </p:sp>
      <p:sp>
        <p:nvSpPr>
          <p:cNvPr id="19" name="Text 9"/>
          <p:cNvSpPr/>
          <p:nvPr/>
        </p:nvSpPr>
        <p:spPr>
          <a:xfrm>
            <a:off x="920279" y="3229124"/>
            <a:ext cx="7651849" cy="128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Tool integration</a:t>
            </a:r>
            <a:endParaRPr lang="en-US" sz="7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8288" y="3559746"/>
            <a:ext cx="8207425" cy="564505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5387" y="3771454"/>
            <a:ext cx="141089" cy="141089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920279" y="3663330"/>
            <a:ext cx="7651849" cy="156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Sub-Agents</a:t>
            </a:r>
            <a:endParaRPr lang="en-US" sz="950" dirty="0"/>
          </a:p>
        </p:txBody>
      </p:sp>
      <p:sp>
        <p:nvSpPr>
          <p:cNvPr id="23" name="Text 11"/>
          <p:cNvSpPr/>
          <p:nvPr/>
        </p:nvSpPr>
        <p:spPr>
          <a:xfrm>
            <a:off x="920279" y="3859783"/>
            <a:ext cx="7651849" cy="128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Specialized responsibilities</a:t>
            </a:r>
            <a:endParaRPr lang="en-US" sz="7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68288" y="4190405"/>
            <a:ext cx="8207425" cy="564505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95387" y="4402113"/>
            <a:ext cx="141089" cy="141089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920279" y="4293989"/>
            <a:ext cx="7651849" cy="156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Persistent Memory</a:t>
            </a:r>
            <a:endParaRPr lang="en-US" sz="950" dirty="0"/>
          </a:p>
        </p:txBody>
      </p:sp>
      <p:sp>
        <p:nvSpPr>
          <p:cNvPr id="27" name="Text 13"/>
          <p:cNvSpPr/>
          <p:nvPr/>
        </p:nvSpPr>
        <p:spPr>
          <a:xfrm>
            <a:off x="920279" y="4490442"/>
            <a:ext cx="7651849" cy="128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Long-term state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288" y="684163"/>
            <a:ext cx="8207425" cy="445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What Makes a Good Loop?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68288" y="1397719"/>
            <a:ext cx="8664625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Beyond components — these are the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design decisions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engineers face: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288" y="1762274"/>
            <a:ext cx="2646611" cy="7517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7334" y="1915120"/>
            <a:ext cx="2264718" cy="44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Should I retry? Should I stop?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8695" y="1762274"/>
            <a:ext cx="2646611" cy="7517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7741" y="1915120"/>
            <a:ext cx="2264718" cy="44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Should I ask another agent? Should I verify?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9102" y="1762274"/>
            <a:ext cx="2646611" cy="75173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58148" y="1915120"/>
            <a:ext cx="2264718" cy="44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Should I use another tool? What should I remember?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68288" y="2798341"/>
            <a:ext cx="3940522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Key Metrics to Optimize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68288" y="3155156"/>
            <a:ext cx="3940522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Success Rate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Cost &amp; Latency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Number of Iterations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Tool Success Rate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Recovery Rate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643661" y="2664544"/>
            <a:ext cx="4133106" cy="1794718"/>
          </a:xfrm>
          <a:prstGeom prst="roundRect">
            <a:avLst>
              <a:gd name="adj" fmla="val 1118"/>
            </a:avLst>
          </a:prstGeom>
          <a:solidFill>
            <a:srgbClr val="FFB393"/>
          </a:solidFill>
          <a:ln/>
        </p:spPr>
      </p:sp>
      <p:sp>
        <p:nvSpPr>
          <p:cNvPr id="13" name="Text 8"/>
          <p:cNvSpPr/>
          <p:nvPr/>
        </p:nvSpPr>
        <p:spPr>
          <a:xfrm>
            <a:off x="4777457" y="2798341"/>
            <a:ext cx="3865513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Iteration Reality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777457" y="3155156"/>
            <a:ext cx="3865513" cy="642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Many production agents complete tasks in </a:t>
            </a:r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~3–10 iterations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 Frameworks expose configurable limits to balance accuracy, latency, and cost.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288" y="684386"/>
            <a:ext cx="8207425" cy="445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Framework Support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8982" y="1548482"/>
            <a:ext cx="8006730" cy="42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"The art of loop engineering is designing how an agent iteratively plans, executes, evaluates, and adapts — not simply prompting it." — LangChain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68288" y="1397943"/>
            <a:ext cx="19050" cy="729109"/>
          </a:xfrm>
          <a:prstGeom prst="roundRect">
            <a:avLst>
              <a:gd name="adj" fmla="val 50000"/>
            </a:avLst>
          </a:prstGeom>
          <a:solidFill>
            <a:srgbClr val="FFB393"/>
          </a:solidFill>
          <a:ln/>
        </p:spPr>
      </p:sp>
      <p:sp>
        <p:nvSpPr>
          <p:cNvPr id="5" name="Shape 3"/>
          <p:cNvSpPr/>
          <p:nvPr/>
        </p:nvSpPr>
        <p:spPr>
          <a:xfrm>
            <a:off x="468288" y="2277591"/>
            <a:ext cx="8207425" cy="2181523"/>
          </a:xfrm>
          <a:prstGeom prst="roundRect">
            <a:avLst>
              <a:gd name="adj" fmla="val 92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288" y="2882726"/>
            <a:ext cx="8207425" cy="83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68288" y="3276228"/>
            <a:ext cx="8207425" cy="83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68288" y="3669729"/>
            <a:ext cx="8207425" cy="83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68288" y="4063231"/>
            <a:ext cx="8207425" cy="83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68724" y="2277591"/>
            <a:ext cx="8363" cy="218152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244280" y="2277591"/>
            <a:ext cx="8363" cy="218152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719837" y="2277591"/>
            <a:ext cx="8363" cy="218152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95393" y="2277591"/>
            <a:ext cx="8363" cy="218152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7144" y="2367335"/>
            <a:ext cx="248260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04902" y="2367335"/>
            <a:ext cx="1660401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LangGraph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0458" y="2367335"/>
            <a:ext cx="1203201" cy="42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OpenAI Agents SDK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56015" y="2367335"/>
            <a:ext cx="1660401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AutoGen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31571" y="2367335"/>
            <a:ext cx="166278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Durable Exec.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7144" y="2970088"/>
            <a:ext cx="248260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Checkpoints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04902" y="2970088"/>
            <a:ext cx="1660401" cy="218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0458" y="2970088"/>
            <a:ext cx="1660401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Trace-based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56015" y="2970088"/>
            <a:ext cx="1660401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Partial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31571" y="2970088"/>
            <a:ext cx="166278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7144" y="3363590"/>
            <a:ext cx="248260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Tool Calling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04902" y="3363590"/>
            <a:ext cx="1660401" cy="218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80458" y="3363590"/>
            <a:ext cx="1660401" cy="218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56015" y="3363590"/>
            <a:ext cx="1660401" cy="218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31571" y="3363590"/>
            <a:ext cx="166278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—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7144" y="3757092"/>
            <a:ext cx="248260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Human Approval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04902" y="3757092"/>
            <a:ext cx="1660401" cy="218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80458" y="3757092"/>
            <a:ext cx="1660401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Partial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56015" y="3757092"/>
            <a:ext cx="1660401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Partial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31571" y="3757092"/>
            <a:ext cx="166278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—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7144" y="4150593"/>
            <a:ext cx="248260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State Management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904902" y="4150593"/>
            <a:ext cx="1660401" cy="218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380458" y="4150593"/>
            <a:ext cx="1660401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Session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56015" y="4150593"/>
            <a:ext cx="1660401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Agent memory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31571" y="4150593"/>
            <a:ext cx="166278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—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8288" y="687065"/>
            <a:ext cx="1771724" cy="203299"/>
          </a:xfrm>
          <a:prstGeom prst="roundRect">
            <a:avLst>
              <a:gd name="adj" fmla="val 7899"/>
            </a:avLst>
          </a:prstGeom>
          <a:solidFill>
            <a:srgbClr val="4D1700"/>
          </a:solidFill>
          <a:ln/>
        </p:spPr>
      </p:sp>
      <p:sp>
        <p:nvSpPr>
          <p:cNvPr id="3" name="Text 1"/>
          <p:cNvSpPr/>
          <p:nvPr/>
        </p:nvSpPr>
        <p:spPr>
          <a:xfrm>
            <a:off x="548506" y="727174"/>
            <a:ext cx="2068488" cy="123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REAL-WORLD 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8288" y="943868"/>
            <a:ext cx="8207425" cy="445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Loops in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68288" y="1590526"/>
            <a:ext cx="8664625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How agentic loops solve real problems across domains.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288" y="1955081"/>
            <a:ext cx="847576" cy="5238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8288" y="2646090"/>
            <a:ext cx="1926431" cy="446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Software Development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8288" y="3172346"/>
            <a:ext cx="1926431" cy="1284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One prompt can't reliably fix a bug.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Loop: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Analyze → Modify → Test → Observe → Retry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Outcome: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Autonomous debugging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927" y="1955081"/>
            <a:ext cx="847576" cy="5238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61927" y="2646090"/>
            <a:ext cx="1926431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Customer Support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561927" y="2949327"/>
            <a:ext cx="1926431" cy="149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Refunds require verification.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Loop: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Read account → Check purchase → Verify policy → Execute refund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Outcome: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Policy-compliant automation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567" y="1955081"/>
            <a:ext cx="847576" cy="5238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55567" y="2646090"/>
            <a:ext cx="1926431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Research Assistant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655567" y="2949327"/>
            <a:ext cx="1926431" cy="1284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One search rarely finds sufficient evidence.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Loop: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Search → Read → Compare → Search again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Outcome: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Evidence-backed synthesis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207" y="1955081"/>
            <a:ext cx="847651" cy="523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49207" y="2646164"/>
            <a:ext cx="1926506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Cybersecurity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749207" y="2949401"/>
            <a:ext cx="1926506" cy="149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One alert isn't enough.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Loop: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Collect logs → Correlate → Investigate → Escalate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Outcome: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Faster incident response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288" y="1160413"/>
            <a:ext cx="8207425" cy="445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Challenges &amp; Best Practices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68288" y="1940868"/>
            <a:ext cx="3940522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Key Challenges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68288" y="2297683"/>
            <a:ext cx="3940522" cy="163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Infinite loops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— agents stuck in unproductive cycles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Cost explosion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— each iteration consumes tokens and money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Debugging complexity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— tracing multi-step agent behavior is hard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Human oversight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— knowing when to escalate to a human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643661" y="1807071"/>
            <a:ext cx="4133106" cy="2175942"/>
          </a:xfrm>
          <a:prstGeom prst="roundRect">
            <a:avLst>
              <a:gd name="adj" fmla="val 922"/>
            </a:avLst>
          </a:prstGeom>
          <a:solidFill>
            <a:srgbClr val="FFB393"/>
          </a:solidFill>
          <a:ln/>
        </p:spPr>
      </p:sp>
      <p:sp>
        <p:nvSpPr>
          <p:cNvPr id="6" name="Text 4"/>
          <p:cNvSpPr/>
          <p:nvPr/>
        </p:nvSpPr>
        <p:spPr>
          <a:xfrm>
            <a:off x="4777457" y="1940868"/>
            <a:ext cx="3865513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Best Practices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77457" y="2297683"/>
            <a:ext cx="3865513" cy="147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Set 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configurable iteration limits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(typically 3–10)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 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checkpoints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for durable execution and recovery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Design clear 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stop conditions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and success criteria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Implement 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human approval gates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for high-stakes actions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Track 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tool success rates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and recovery metrics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8288" y="412254"/>
            <a:ext cx="4778425" cy="397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468288" y="968648"/>
            <a:ext cx="4778425" cy="861045"/>
          </a:xfrm>
          <a:prstGeom prst="roundRect">
            <a:avLst>
              <a:gd name="adj" fmla="val 2076"/>
            </a:avLst>
          </a:prstGeom>
          <a:solidFill>
            <a:srgbClr val="4D1529"/>
          </a:solidFill>
          <a:ln/>
        </p:spPr>
      </p:sp>
      <p:sp>
        <p:nvSpPr>
          <p:cNvPr id="5" name="Text 2"/>
          <p:cNvSpPr/>
          <p:nvPr/>
        </p:nvSpPr>
        <p:spPr>
          <a:xfrm>
            <a:off x="587425" y="1087785"/>
            <a:ext cx="4540151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Loops ≠ One-Shot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87425" y="1349946"/>
            <a:ext cx="4540151" cy="360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Agents reason, act, observe, and repeat — closing the gap between intent and outcome.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8288" y="1935807"/>
            <a:ext cx="4778425" cy="861045"/>
          </a:xfrm>
          <a:prstGeom prst="roundRect">
            <a:avLst>
              <a:gd name="adj" fmla="val 2076"/>
            </a:avLst>
          </a:prstGeom>
          <a:solidFill>
            <a:srgbClr val="4D1529"/>
          </a:solidFill>
          <a:ln/>
        </p:spPr>
      </p:sp>
      <p:sp>
        <p:nvSpPr>
          <p:cNvPr id="8" name="Text 5"/>
          <p:cNvSpPr/>
          <p:nvPr/>
        </p:nvSpPr>
        <p:spPr>
          <a:xfrm>
            <a:off x="587425" y="2054944"/>
            <a:ext cx="4540151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Production Requires Primitives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7425" y="2317105"/>
            <a:ext cx="4540151" cy="360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Worktrees, persistent memory, sub-agents, and skills transform loops from demos to systems.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8288" y="2902967"/>
            <a:ext cx="4778425" cy="861045"/>
          </a:xfrm>
          <a:prstGeom prst="roundRect">
            <a:avLst>
              <a:gd name="adj" fmla="val 2076"/>
            </a:avLst>
          </a:prstGeom>
          <a:solidFill>
            <a:srgbClr val="4D1529"/>
          </a:solidFill>
          <a:ln/>
        </p:spPr>
      </p:sp>
      <p:sp>
        <p:nvSpPr>
          <p:cNvPr id="11" name="Text 8"/>
          <p:cNvSpPr/>
          <p:nvPr/>
        </p:nvSpPr>
        <p:spPr>
          <a:xfrm>
            <a:off x="587425" y="3022104"/>
            <a:ext cx="4540151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Design Is the Discipline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87425" y="3284265"/>
            <a:ext cx="4540151" cy="360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Good loop engineering means optimizing success rate, cost, latency, and recovery — not just prompting.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8288" y="3870127"/>
            <a:ext cx="4778425" cy="861045"/>
          </a:xfrm>
          <a:prstGeom prst="roundRect">
            <a:avLst>
              <a:gd name="adj" fmla="val 2076"/>
            </a:avLst>
          </a:prstGeom>
          <a:solidFill>
            <a:srgbClr val="4D1529"/>
          </a:solidFill>
          <a:ln/>
        </p:spPr>
      </p:sp>
      <p:sp>
        <p:nvSpPr>
          <p:cNvPr id="14" name="Text 11"/>
          <p:cNvSpPr/>
          <p:nvPr/>
        </p:nvSpPr>
        <p:spPr>
          <a:xfrm>
            <a:off x="587425" y="3989263"/>
            <a:ext cx="4540151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Frameworks Enable, You Architect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87425" y="4251424"/>
            <a:ext cx="4540151" cy="360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LangGraph, OpenAI Agents SDK, and AutoGen provide building blocks — the loop design is yours.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7288" y="415900"/>
            <a:ext cx="4778425" cy="369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What's Next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897288" y="922809"/>
            <a:ext cx="5235625" cy="161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Loop engineering is still evolving. Here's where the field is headed.</a:t>
            </a:r>
            <a:endParaRPr lang="en-US" sz="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7288" y="1188021"/>
            <a:ext cx="4778425" cy="6518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79528" y="1313111"/>
            <a:ext cx="4471095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Human-in-the-Loop UX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079528" y="1552798"/>
            <a:ext cx="4471095" cy="161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Designing interfaces where humans and agents collaborate seamlessly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7288" y="1931640"/>
            <a:ext cx="4778425" cy="6518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79528" y="2056730"/>
            <a:ext cx="4471095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Cost &amp; Latency Optimization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079528" y="2296418"/>
            <a:ext cx="4471095" cy="161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Reducing token usage and iteration overhead at scale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7288" y="2675260"/>
            <a:ext cx="4778425" cy="65186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079528" y="2800350"/>
            <a:ext cx="4471095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Multi-Agent Orchestration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4079528" y="3040038"/>
            <a:ext cx="4471095" cy="161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Coordinating specialized sub-agents for complex workflows</a:t>
            </a:r>
            <a:endParaRPr lang="en-US" sz="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97288" y="3418880"/>
            <a:ext cx="4778425" cy="65186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079528" y="3543970"/>
            <a:ext cx="4471095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Observability &amp; Debugging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4079528" y="3783657"/>
            <a:ext cx="4471095" cy="161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Tracing, logging, and monitoring agent behavior in production</a:t>
            </a:r>
            <a:endParaRPr lang="en-US" sz="850" dirty="0"/>
          </a:p>
        </p:txBody>
      </p:sp>
      <p:sp>
        <p:nvSpPr>
          <p:cNvPr id="17" name="Shape 10"/>
          <p:cNvSpPr/>
          <p:nvPr/>
        </p:nvSpPr>
        <p:spPr>
          <a:xfrm>
            <a:off x="3897288" y="4173959"/>
            <a:ext cx="4778425" cy="553641"/>
          </a:xfrm>
          <a:prstGeom prst="roundRect">
            <a:avLst>
              <a:gd name="adj" fmla="val 3002"/>
            </a:avLst>
          </a:prstGeom>
          <a:solidFill>
            <a:srgbClr val="802600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8090" y="4325020"/>
            <a:ext cx="138485" cy="11080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257377" y="4293394"/>
            <a:ext cx="4307532" cy="3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best loop engineers don't just build agents — they design systems that learn, adapt, and improve over time.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2026-07-28T17:50:22Z</dcterms:created>
  <dcterms:modified xsi:type="dcterms:W3CDTF">2026-07-28T17:50:22Z</dcterms:modified>
</cp:coreProperties>
</file>