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ubot Sans ExtraLight"/>
      <p:regular r:id="rId201314"/>
    </p:embeddedFont>
    <p:embeddedFont>
      <p:font typeface="Hubot Sans"/>
      <p:regular r:id="rId201315"/>
    </p:embeddedFont>
    <p:embeddedFont>
      <p:font typeface="Hubot Sans Medium"/>
      <p:regular r:id="rId201316"/>
    </p:embeddedFont>
    <p:embeddedFont>
      <p:font typeface="Hubot Sans SemiBold"/>
      <p:regular r:id="rId201317"/>
    </p:embeddedFont>
    <p:embeddedFont>
      <p:font typeface="Hubot Sans Bold"/>
      <p:regular r:id="rId201318"/>
    </p:embeddedFont>
    <p:embeddedFont>
      <p:font typeface="Hubot Sans ExtraBold"/>
      <p:regular r:id="rId201319"/>
    </p:embeddedFont>
    <p:embeddedFont>
      <p:font typeface="Hubot Sans Black"/>
      <p:regular r:id="rId201320"/>
    </p:embeddedFont>
    <p:embeddedFont>
      <p:font typeface="Hubot Sans Light"/>
      <p:regular r:id="rId201321"/>
    </p:embeddedFont>
    <p:embeddedFont>
      <p:font typeface="Roboto Condensed Thin"/>
      <p:regular r:id="rId201322"/>
    </p:embeddedFont>
    <p:embeddedFont>
      <p:font typeface="Roboto Condensed ExtraLight"/>
      <p:regular r:id="rId201323"/>
    </p:embeddedFont>
    <p:embeddedFont>
      <p:font typeface="Roboto Condensed Light"/>
      <p:regular r:id="rId201324"/>
    </p:embeddedFont>
    <p:embeddedFont>
      <p:font typeface="Roboto Condensed"/>
      <p:regular r:id="rId201325"/>
    </p:embeddedFont>
    <p:embeddedFont>
      <p:font typeface="Roboto Condensed Medium"/>
      <p:regular r:id="rId201326"/>
    </p:embeddedFont>
    <p:embeddedFont>
      <p:font typeface="Roboto Condensed SemiBold"/>
      <p:regular r:id="rId201327"/>
    </p:embeddedFont>
    <p:embeddedFont>
      <p:font typeface="Roboto Condensed Bold"/>
      <p:regular r:id="rId201328"/>
    </p:embeddedFont>
    <p:embeddedFont>
      <p:font typeface="Roboto Condensed ExtraBold"/>
      <p:regular r:id="rId201329"/>
    </p:embeddedFont>
    <p:embeddedFont>
      <p:font typeface="Roboto Condensed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.png"/><Relationship Id="rId14" Type="http://schemas.openxmlformats.org/officeDocument/2006/relationships/image" Target="../media/image-4-2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.png"/><Relationship Id="rId18" Type="http://schemas.openxmlformats.org/officeDocument/2006/relationships/image" Target="../media/image-4-2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1.png"/><Relationship Id="rId22" Type="http://schemas.openxmlformats.org/officeDocument/2006/relationships/image" Target="../media/image-4-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628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LOOP ENGINEERING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7187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Modern AI systems don't just respond — they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reason, act, observe, and repeat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. Loop engineering is the discipline of building those iterative cycles into production-grade agents.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11785"/>
            <a:ext cx="200620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E1E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3254276"/>
            <a:ext cx="229329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REASON → ACT → OBSERVE → REPEAT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6524"/>
            <a:ext cx="4722763" cy="58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IS EVERYONE TALKING ABOUT IT?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925119" y="1079525"/>
            <a:ext cx="5179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Industry leaders are signaling a fundamental shift: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AI products are no longer just chatbots — they're becoming agents.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3925119" y="1271439"/>
            <a:ext cx="4722763" cy="491207"/>
          </a:xfrm>
          <a:prstGeom prst="roundRect">
            <a:avLst>
              <a:gd name="adj" fmla="val 284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018136" y="1364456"/>
            <a:ext cx="45367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PETER STEINBERGER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018136" y="1546399"/>
            <a:ext cx="453672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OpenAI — on the rise of agentic systems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925119" y="1823665"/>
            <a:ext cx="4722763" cy="491207"/>
          </a:xfrm>
          <a:prstGeom prst="roundRect">
            <a:avLst>
              <a:gd name="adj" fmla="val 284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018136" y="1916683"/>
            <a:ext cx="45367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BORIS CHERNY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18136" y="2098625"/>
            <a:ext cx="453672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Anthropic — on agent architecture</a:t>
            </a:r>
            <a:endParaRPr lang="en-US" sz="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2383557"/>
            <a:ext cx="4722763" cy="21614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1347" y="4031716"/>
            <a:ext cx="886654" cy="170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LOOP ENG.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23920" y="4031716"/>
            <a:ext cx="886654" cy="170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AGENT ENG.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312565" y="3946315"/>
            <a:ext cx="886654" cy="341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CONTEXT ENG.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76919" y="3946315"/>
            <a:ext cx="886654" cy="341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PROMPT ENG.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925119" y="4613672"/>
            <a:ext cx="5179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industry has evolved from simple prompts to full iterative loop systems.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6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HOW DOES A LOOP WORK?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2216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Every loop follows a conceptual lifecycle — from initial discovery through reflection and repetition.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46411"/>
            <a:ext cx="25075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DISCOVER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1952923"/>
            <a:ext cx="25075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Identify the problem or goal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2688" y="1891085"/>
            <a:ext cx="212080" cy="212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0276" y="1646411"/>
            <a:ext cx="2507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40276" y="1952923"/>
            <a:ext cx="25076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Break down the approach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6442" y="2062758"/>
            <a:ext cx="212080" cy="212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82035" y="2668265"/>
            <a:ext cx="23658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EXECUTE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282035" y="2974777"/>
            <a:ext cx="23658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Take action via tools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9639" y="3000524"/>
            <a:ext cx="212080" cy="2120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40276" y="3690193"/>
            <a:ext cx="2507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OBSERVE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140276" y="3996705"/>
            <a:ext cx="25076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Read the output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9083" y="3766617"/>
            <a:ext cx="212080" cy="2120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96119" y="3690193"/>
            <a:ext cx="25075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REFLECT</a:t>
            </a:r>
            <a:endParaRPr lang="en-US" sz="1350" dirty="0"/>
          </a:p>
        </p:txBody>
      </p:sp>
      <p:sp>
        <p:nvSpPr>
          <p:cNvPr id="21" name="Text 11"/>
          <p:cNvSpPr/>
          <p:nvPr/>
        </p:nvSpPr>
        <p:spPr>
          <a:xfrm>
            <a:off x="496119" y="3996705"/>
            <a:ext cx="25075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Evaluate results</a:t>
            </a:r>
            <a:endParaRPr lang="en-US" sz="11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5329" y="3594943"/>
            <a:ext cx="212080" cy="21208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496119" y="2668265"/>
            <a:ext cx="23657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REPEAT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496119" y="2974777"/>
            <a:ext cx="23657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Iterate until done</a:t>
            </a:r>
            <a:endParaRPr lang="en-US" sz="11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82132" y="2657177"/>
            <a:ext cx="212080" cy="21208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496119" y="452102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explains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happens during execution — but production systems require much more than a simple loop.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17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FROM CONCEPTUAL LOOPS TO PRODUCTION LOOPS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55092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Addy Osmani's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six primitives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define what it takes to engineer a real production loop.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47006"/>
            <a:ext cx="8151763" cy="5581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878" y="1256258"/>
            <a:ext cx="139526" cy="1395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8733" y="1149548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AUTOMATIONS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938733" y="1331491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Trigger recurring work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666205"/>
            <a:ext cx="8151763" cy="55818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878" y="1875458"/>
            <a:ext cx="139526" cy="1395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38733" y="1768748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WORKTREES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938733" y="1950690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Isolated workspaces per agent — no overwrites, shared repo history, true parallel execution</a:t>
            </a:r>
            <a:endParaRPr lang="en-US" sz="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285405"/>
            <a:ext cx="8151763" cy="55818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878" y="2494657"/>
            <a:ext cx="139526" cy="13952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38733" y="2387947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SKILLS</a:t>
            </a:r>
            <a:endParaRPr lang="en-US" sz="900" dirty="0"/>
          </a:p>
        </p:txBody>
      </p:sp>
      <p:sp>
        <p:nvSpPr>
          <p:cNvPr id="15" name="Text 7"/>
          <p:cNvSpPr/>
          <p:nvPr/>
        </p:nvSpPr>
        <p:spPr>
          <a:xfrm>
            <a:off x="938733" y="2569890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Reusable knowledge</a:t>
            </a:r>
            <a:endParaRPr lang="en-US" sz="7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2904604"/>
            <a:ext cx="8151763" cy="558180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1878" y="3113856"/>
            <a:ext cx="139526" cy="139526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38733" y="3007147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PLUGINS / MCP</a:t>
            </a:r>
            <a:endParaRPr lang="en-US" sz="900" dirty="0"/>
          </a:p>
        </p:txBody>
      </p:sp>
      <p:sp>
        <p:nvSpPr>
          <p:cNvPr id="19" name="Text 9"/>
          <p:cNvSpPr/>
          <p:nvPr/>
        </p:nvSpPr>
        <p:spPr>
          <a:xfrm>
            <a:off x="938733" y="3189089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Tool integration</a:t>
            </a:r>
            <a:endParaRPr lang="en-US" sz="7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19" y="3523804"/>
            <a:ext cx="8151763" cy="558180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1878" y="3733056"/>
            <a:ext cx="139526" cy="139526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938733" y="3626346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SUB-AGENTS</a:t>
            </a:r>
            <a:endParaRPr lang="en-US" sz="900" dirty="0"/>
          </a:p>
        </p:txBody>
      </p:sp>
      <p:sp>
        <p:nvSpPr>
          <p:cNvPr id="23" name="Text 11"/>
          <p:cNvSpPr/>
          <p:nvPr/>
        </p:nvSpPr>
        <p:spPr>
          <a:xfrm>
            <a:off x="938733" y="3808288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Specialized responsibilities</a:t>
            </a:r>
            <a:endParaRPr lang="en-US" sz="7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96119" y="4143003"/>
            <a:ext cx="8151763" cy="558180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1878" y="4352255"/>
            <a:ext cx="139526" cy="139526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938733" y="4245546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PERSISTENT MEMORY</a:t>
            </a:r>
            <a:endParaRPr lang="en-US" sz="900" dirty="0"/>
          </a:p>
        </p:txBody>
      </p:sp>
      <p:sp>
        <p:nvSpPr>
          <p:cNvPr id="27" name="Text 13"/>
          <p:cNvSpPr/>
          <p:nvPr/>
        </p:nvSpPr>
        <p:spPr>
          <a:xfrm>
            <a:off x="938733" y="4427488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Long-term state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57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WHAT MAKES A GOOD LOOP?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8307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DESIGN QUESTIONS ENGINEERS ASK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46287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Should I retry?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Should I stop?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Should I ask another agent?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Should I verify?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Should I use another tool?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 should I remember?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48307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METRICS TO OPTIMIZE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846287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Success Rate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Cost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Latency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Number of Iterations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Tool Success Rate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Recovery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664000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E7E7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864769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3841179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Many production agents complete tasks in approximately 3–10 iterations.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Frameworks expose configurable iteration limits to balance accuracy, latency, and cost.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8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FRAMEWORK SUPPORT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539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Frameworks help implement production loops — each with different strengths across key capabilities.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31677"/>
            <a:ext cx="8151763" cy="2060823"/>
          </a:xfrm>
          <a:prstGeom prst="roundRect">
            <a:avLst>
              <a:gd name="adj" fmla="val 10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04527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45648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86769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27890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943597" y="1631677"/>
            <a:ext cx="8860" cy="20608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409182" y="1631677"/>
            <a:ext cx="8860" cy="20608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74767" y="1631677"/>
            <a:ext cx="8860" cy="20608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58943" y="1631677"/>
            <a:ext cx="8860" cy="20608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2714" y="1726257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Feature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7737" y="1726257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53322" y="1726257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OpenAI Agents SDK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18907" y="1726257"/>
            <a:ext cx="15530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AutoGen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03083" y="1726257"/>
            <a:ext cx="15554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Durable Exec.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2137470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Checkpoints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87737" y="2137470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322" y="2137470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Trace-based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18907" y="2137470"/>
            <a:ext cx="15530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3083" y="2137470"/>
            <a:ext cx="15554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714" y="2548682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87737" y="2548682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53322" y="2548682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18907" y="2548682"/>
            <a:ext cx="15530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3083" y="2548682"/>
            <a:ext cx="15554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2714" y="2959894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87737" y="295989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53322" y="295989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Partial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18907" y="2959894"/>
            <a:ext cx="15530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Partial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3083" y="2959894"/>
            <a:ext cx="15554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2714" y="3371106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87737" y="3371106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53322" y="3371106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Session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18907" y="3371106"/>
            <a:ext cx="15530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Agent memory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3083" y="3371106"/>
            <a:ext cx="15554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8720" y="4011439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"The art of loop engineering is designing how an agent iteratively plans, executes, evaluates, and adapts — not simply prompting it." — LangChain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6119" y="3851970"/>
            <a:ext cx="19050" cy="772567"/>
          </a:xfrm>
          <a:prstGeom prst="roundRect">
            <a:avLst>
              <a:gd name="adj" fmla="val 50000"/>
            </a:avLst>
          </a:prstGeom>
          <a:solidFill>
            <a:srgbClr val="1E1E1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0092"/>
            <a:ext cx="1473324" cy="215354"/>
          </a:xfrm>
          <a:prstGeom prst="roundRect">
            <a:avLst>
              <a:gd name="adj" fmla="val 7900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62583"/>
            <a:ext cx="17604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REAL-WORLD APPLICATIONS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921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LOOPS IN ACTION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47738"/>
            <a:ext cx="1104900" cy="68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407741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SOFTWARE DEVELOPMENT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935709"/>
            <a:ext cx="190500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One prompt cannot reliably fix a bug.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Loop: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Analyze → Modify → Test → Observe → Retry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Autonomous debugging.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547738"/>
            <a:ext cx="1104900" cy="6828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240774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SUPPORT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78298" y="2935709"/>
            <a:ext cx="190507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Refunds require verification.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Loop: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Read account → Check purchase → Verify policy → Execute refund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Policy-compliant automation.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547738"/>
            <a:ext cx="1104900" cy="6828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240774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RESEARCH ASSISTANT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2935709"/>
            <a:ext cx="190507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One search rarely finds sufficient evidence.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Loop: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Search → Read → Compare → Search again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Evidence-backed synthesis.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547738"/>
            <a:ext cx="1104900" cy="6828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240774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CYBERSECURITY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07" y="2714253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One alert isn't enough.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Loop: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Collect logs → Correlate → Investigate → Escalate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Faster incident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732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CHALLENGES &amp; BEST PRACTICES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3466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97881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Infinite loops: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Always set iteration limits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Cost explosion: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Monitor token usage per iteration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Observability: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Log every step for debugging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Non-determinism: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Temperature and model variance affect reproducibility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592907"/>
            <a:ext cx="4107135" cy="1886843"/>
          </a:xfrm>
          <a:prstGeom prst="roundRect">
            <a:avLst>
              <a:gd name="adj" fmla="val 1127"/>
            </a:avLst>
          </a:prstGeom>
          <a:solidFill>
            <a:srgbClr val="1E1E1A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734666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BEST PRACTICES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097881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Define clear termination conditions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 structured outputs for parsing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Implement human-in-the-loop checkpoints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Cache repeated tool calls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Version your prompts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639220"/>
            <a:ext cx="8151763" cy="566961"/>
          </a:xfrm>
          <a:prstGeom prst="roundRect">
            <a:avLst>
              <a:gd name="adj" fmla="val 3751"/>
            </a:avLst>
          </a:prstGeom>
          <a:solidFill>
            <a:srgbClr val="FCF2B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839989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6816" y="3816400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Without iteration limits, agents can enter infinite loops — always enforce a maximum step count in production systems.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3251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WHAT'S NEXT: THE FUTURE OF LOOP ENGINEERING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25119" y="1530697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Loop engineering is evolving rapidly. Three major trends are shaping the next generation of agentic systems.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067892"/>
            <a:ext cx="4722763" cy="7671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7227" y="2212851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MULTI-AGENT COLLABORATION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127227" y="2489225"/>
            <a:ext cx="43756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Agents delegating subtasks to specialized peers for complex workflows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955503"/>
            <a:ext cx="4722763" cy="7671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27227" y="3100462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MEMORY &amp; PERSISTENCE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127227" y="3376836"/>
            <a:ext cx="43756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Long-term state enabling agents to learn across sessions and tasks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843114"/>
            <a:ext cx="4722763" cy="7671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27227" y="3988073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127227" y="4264447"/>
            <a:ext cx="43756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 checkpoints where humans guide, approve, or override agent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9993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CONCLUSION &amp; KEY TAKEAWAYS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477789"/>
            <a:ext cx="308967" cy="308967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976613" y="1503536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67064" y="1524967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LOOPS ARE THE CORE OF AGENTIC SYSTEMS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67064" y="1819275"/>
            <a:ext cx="428081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Iterative reasoning separates agents from simple chatbots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25119" y="2301627"/>
            <a:ext cx="308967" cy="308967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976613" y="2327374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67064" y="2348805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ENGINEERING MATTERS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67064" y="2643113"/>
            <a:ext cx="42808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Worktrees, memory, and sub-agents transform concepts into production systems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25119" y="3341787"/>
            <a:ext cx="308967" cy="308967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976613" y="3367534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67064" y="3388965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DESIGN DETERMINES QUALITY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67064" y="3683273"/>
            <a:ext cx="428081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Success rate, cost, latency, and recovery depend on loop architecture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25119" y="4165625"/>
            <a:ext cx="308967" cy="308967"/>
          </a:xfrm>
          <a:prstGeom prst="roundRect">
            <a:avLst>
              <a:gd name="adj" fmla="val 666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976613" y="4191372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67064" y="4212803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THE FUTURE IS ITERATIVE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367064" y="4507111"/>
            <a:ext cx="428081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Multi-agent collaboration, persistence, and human oversight define what's next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2026-07-28T18:15:17Z</dcterms:created>
  <dcterms:modified xsi:type="dcterms:W3CDTF">2026-07-28T18:15:17Z</dcterms:modified>
</cp:coreProperties>
</file>